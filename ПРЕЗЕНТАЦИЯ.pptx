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3" r:id="rId2"/>
    <p:sldId id="264" r:id="rId3"/>
    <p:sldId id="276" r:id="rId4"/>
    <p:sldId id="272" r:id="rId5"/>
    <p:sldId id="273" r:id="rId6"/>
    <p:sldId id="274" r:id="rId7"/>
    <p:sldId id="275" r:id="rId8"/>
    <p:sldId id="277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110" y="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08D7D2-63D2-428F-9B17-AC84042A5E40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F01674-9CE6-48EA-994F-300955615A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715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01674-9CE6-48EA-994F-300955615A5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3455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01674-9CE6-48EA-994F-300955615A5B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4341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E781EA-8B25-480D-B364-33D5DAA3F3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0460378-26A8-4356-9EB1-E091B900A0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3E8899-B6F9-472B-B0E7-5F7A3741C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142EE3-906B-4EC4-B401-4BF262D55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D5B612-78EE-443E-B2B8-20B596E8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512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2E9514-71C1-4091-81CB-8BCB51B3E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EB196E-0A34-46EE-B52D-A054CEBB5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DDBBDB-6DB1-4F5C-B39A-BD84CD25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DE5326-A782-4989-909C-73C797B38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A09FA6-3F0B-45B1-BFF6-BED503539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3642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D21161-1999-43A6-99D8-D3144C098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289EEB1-AA7E-467E-88E0-094B62988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967841-BC1A-4CFA-8E6F-CD668F8A4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BCD816-4C5B-4195-8706-F61239B2B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4C42E2-8627-4E7D-9129-DB6CA50DC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4412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EBA639-EFEB-48B9-8D1B-1B62BDDA0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3204F3-88D5-4C52-95D7-B2344145F0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152C2EF-1B2F-4BE9-8E3F-70AC442B7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DA8D18C-A625-445D-AA9F-53B18C016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0E5BD3-750E-43C1-8F21-06A01B8A2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49274E-40E2-4591-89EC-FF49F063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4858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FC8C58-51D9-473D-8841-F2B3CF06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D4CFB4-EABE-4D81-AE02-BD6504608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71E0FBF-9FB6-4A30-B12D-E12571432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A702129-DCDF-4FDC-A239-24DE3EBBC4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421B6B4-EFA5-4A18-977F-3C41A0CD18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226F01E-9675-452D-9B37-7E5A40672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D818C3C-0591-42D4-8181-5F9F3383A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8469872-9D09-4D91-96DD-3CD0312CB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6944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7381A5-75E3-41B0-8EF2-02C537FBF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BCD741C-9724-4C05-92F1-8B5648A74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D3A6995-8C92-4143-9D66-CD5C21041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46D8276-6323-4AA6-9E2C-CF1DAFCE2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6416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22EB7F6-7110-41C1-94F2-B02E20630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5303B1D-36D0-440B-80F5-2CC5FD84E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FC9072-B6BF-4D75-A420-56393BFEE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1486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BCFA3E-3358-4834-BF77-0585CCD76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732D9D-F7C1-4644-891E-97D8F66CA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29D4515-4DDA-4899-AF65-DDE85DE7C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8C47FE-2F93-41BF-BAF2-4A4ABBDEF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0192FD-A563-46B8-9E39-3D3895699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6E574D-6F45-4FD6-91FE-1AAE5C27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595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B8188-6F50-481A-8490-1CBD811AB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B876462-CFA1-487B-BE4D-4AC519A1F6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85839C0-E1D4-465C-B9A0-77978C8BE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D0F3A0-1F5F-4371-8727-2F77FF5FA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9809D46-1E7F-42CF-945C-94BC10EDB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59E24F-3E42-432B-8F38-F2236CF83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580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AFC49D-1669-479A-B9CC-7B0A24BCC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7713866-F425-41AE-A097-728AFF157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9B2A58-6FF3-4357-88E9-AD1D5E9FA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3835CB-01FB-437F-9F60-80EB61711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8360DB-349D-4E18-903B-00FAE7668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38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3321878-D794-4871-B670-6D6F08B8A4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770462-8833-45E1-A7E8-2DE112C10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DBAF52-E1F4-42E3-BD4B-FD8D55381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4A58AB-8A48-45FC-83F5-4C329C434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095E16-8E6E-430E-BFF4-C40DE8982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6551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000174-612B-4618-AF21-18BABDCD5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E67E804-F152-44E0-9938-18BEEFBEE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5278D5-4C83-4AD4-A374-E41E6FD743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A7811-AD34-41EE-8CC1-398635206704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2D5BA7-9DEC-4936-9E8F-97ACA9F9A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8293DD-4476-4C67-AA41-3553E9A77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021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5.png"/><Relationship Id="rId5" Type="http://schemas.openxmlformats.org/officeDocument/2006/relationships/image" Target="../media/image4.svg"/><Relationship Id="rId10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015254" y="-1064332"/>
            <a:ext cx="3706906" cy="370690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F9311-0176-4AFD-BB61-1F38E2FEC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087" y="519861"/>
            <a:ext cx="9569824" cy="1698910"/>
          </a:xfrm>
        </p:spPr>
        <p:txBody>
          <a:bodyPr>
            <a:normAutofit/>
          </a:bodyPr>
          <a:lstStyle/>
          <a:p>
            <a:pPr algn="ctr"/>
            <a: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  <a:t>МИНИСТЕРСТВО НАУКИ И ВЫСШЕГО ОБРАЗОВАНИЯ </a:t>
            </a:r>
            <a:b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</a:br>
            <a: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  <a:t>РОССИЙСКОЙ ФЕДЕРАЦИИ</a:t>
            </a:r>
            <a:b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</a:br>
            <a: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</a:t>
            </a:r>
            <a:b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</a:br>
            <a: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  <a:t>высшего образования</a:t>
            </a:r>
            <a:b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</a:br>
            <a: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  <a:t>«Казанский национальный исследовательский технологический университет» </a:t>
            </a:r>
            <a:b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</a:br>
            <a: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  <a:t>Казанский технологический колледж</a:t>
            </a:r>
            <a:b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</a:br>
            <a: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  <a:t>(КТК ФГБОУ ВО «КНИТУ»)</a:t>
            </a:r>
            <a:br>
              <a:rPr lang="ru-RU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1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097A4A-8BEA-4B40-AEBB-FFB6ADD02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055979"/>
            <a:ext cx="10515600" cy="1443319"/>
          </a:xfrm>
        </p:spPr>
        <p:txBody>
          <a:bodyPr/>
          <a:lstStyle/>
          <a:p>
            <a:pPr marL="0" indent="0" algn="ctr">
              <a:buNone/>
            </a:pPr>
            <a:r>
              <a:rPr lang="ru-RU" sz="2800" b="1" cap="all" dirty="0">
                <a:latin typeface="Bicubik" panose="02000503020000020004" pitchFamily="50" charset="0"/>
                <a:cs typeface="Times New Roman" panose="02020603050405020304" pitchFamily="18" charset="0"/>
              </a:rPr>
              <a:t>Выпускная квалификационная </a:t>
            </a:r>
            <a:r>
              <a:rPr lang="ru-RU" sz="2800" b="1" dirty="0">
                <a:latin typeface="Bicubik" panose="02000503020000020004" pitchFamily="50" charset="0"/>
                <a:cs typeface="Times New Roman" panose="02020603050405020304" pitchFamily="18" charset="0"/>
              </a:rPr>
              <a:t>РАБОТА </a:t>
            </a:r>
            <a:br>
              <a:rPr lang="ru-RU" sz="2800" b="1" dirty="0">
                <a:latin typeface="Bicubik" panose="02000503020000020004" pitchFamily="50" charset="0"/>
                <a:cs typeface="Times New Roman" panose="02020603050405020304" pitchFamily="18" charset="0"/>
              </a:rPr>
            </a:br>
            <a:r>
              <a:rPr lang="ru-RU" sz="2800" b="1" dirty="0">
                <a:latin typeface="Bicubik" panose="02000503020000020004" pitchFamily="50" charset="0"/>
                <a:cs typeface="Times New Roman" panose="02020603050405020304" pitchFamily="18" charset="0"/>
              </a:rPr>
              <a:t> на тему «Разработка АИС для стоматологической клиники»</a:t>
            </a:r>
            <a:endParaRPr lang="ru-RU" b="1" dirty="0">
              <a:latin typeface="Bicubik" panose="02000503020000020004" pitchFamily="50" charset="0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5BC74B55-30AE-4AD1-925D-DC6E0652171B}"/>
              </a:ext>
            </a:extLst>
          </p:cNvPr>
          <p:cNvSpPr txBox="1">
            <a:spLocks/>
          </p:cNvSpPr>
          <p:nvPr/>
        </p:nvSpPr>
        <p:spPr>
          <a:xfrm>
            <a:off x="9013953" y="4921803"/>
            <a:ext cx="2941172" cy="169891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  <a:spcAft>
                <a:spcPts val="0"/>
              </a:spcAft>
            </a:pPr>
            <a:endParaRPr lang="en-US" sz="1500" cap="non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200" cap="none" dirty="0">
                <a:effectLst/>
                <a:latin typeface="Bicubik" panose="02000503020000020004" pitchFamily="50" charset="0"/>
                <a:cs typeface="Times New Roman" panose="02020603050405020304" pitchFamily="18" charset="0"/>
              </a:rPr>
              <a:t>Выполнил</a:t>
            </a:r>
            <a:r>
              <a:rPr lang="en-US" sz="1200" cap="none" dirty="0">
                <a:effectLst/>
                <a:latin typeface="Bicubik" panose="02000503020000020004" pitchFamily="50" charset="0"/>
                <a:cs typeface="Times New Roman" panose="02020603050405020304" pitchFamily="18" charset="0"/>
              </a:rPr>
              <a:t>:</a:t>
            </a:r>
            <a:endParaRPr lang="ru-RU" sz="1200" cap="none" dirty="0">
              <a:effectLst/>
              <a:latin typeface="Bicubik" panose="02000503020000020004" pitchFamily="50" charset="0"/>
              <a:cs typeface="Times New Roman" panose="02020603050405020304" pitchFamily="18" charset="0"/>
            </a:endParaRP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200" cap="none" dirty="0">
                <a:effectLst/>
                <a:latin typeface="Bicubik" panose="02000503020000020004" pitchFamily="50" charset="0"/>
                <a:cs typeface="Times New Roman" panose="02020603050405020304" pitchFamily="18" charset="0"/>
              </a:rPr>
              <a:t>студент группы 0907-26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200" cap="none" dirty="0">
                <a:effectLst/>
                <a:latin typeface="Bicubik" panose="02000503020000020004" pitchFamily="50" charset="0"/>
                <a:cs typeface="Times New Roman" panose="02020603050405020304" pitchFamily="18" charset="0"/>
              </a:rPr>
              <a:t>Яковлев Илья Александрович</a:t>
            </a:r>
            <a:endParaRPr lang="en-US" sz="1200" cap="none" dirty="0">
              <a:effectLst/>
              <a:latin typeface="Bicubik" panose="02000503020000020004" pitchFamily="50" charset="0"/>
              <a:cs typeface="Times New Roman" panose="02020603050405020304" pitchFamily="18" charset="0"/>
            </a:endParaRP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200" cap="none" dirty="0">
                <a:effectLst/>
                <a:latin typeface="Bicubik" panose="02000503020000020004" pitchFamily="50" charset="0"/>
                <a:cs typeface="Times New Roman" panose="02020603050405020304" pitchFamily="18" charset="0"/>
              </a:rPr>
              <a:t>Руководитель: 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200" cap="none" dirty="0">
                <a:effectLst/>
                <a:latin typeface="Bicubik" panose="02000503020000020004" pitchFamily="50" charset="0"/>
                <a:cs typeface="Times New Roman" panose="02020603050405020304" pitchFamily="18" charset="0"/>
              </a:rPr>
              <a:t>Муратов Амир Альбертович</a:t>
            </a:r>
            <a:endParaRPr lang="en-US" sz="1200" cap="none" dirty="0">
              <a:effectLst/>
              <a:latin typeface="Bicubik" panose="02000503020000020004" pitchFamily="50" charset="0"/>
              <a:cs typeface="Times New Roman" panose="02020603050405020304" pitchFamily="18" charset="0"/>
            </a:endParaRPr>
          </a:p>
          <a:p>
            <a:pPr algn="r">
              <a:spcBef>
                <a:spcPts val="0"/>
              </a:spcBef>
              <a:spcAft>
                <a:spcPts val="0"/>
              </a:spcAft>
            </a:pPr>
            <a:endParaRPr lang="ru-RU" sz="1500" cap="non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ts val="0"/>
              </a:spcBef>
              <a:spcAft>
                <a:spcPts val="0"/>
              </a:spcAft>
            </a:pPr>
            <a:endParaRPr lang="ru-RU" sz="1500" cap="non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ts val="0"/>
              </a:spcBef>
              <a:spcAft>
                <a:spcPts val="0"/>
              </a:spcAft>
            </a:pPr>
            <a:endParaRPr lang="ru-RU" sz="15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05487" y="80503"/>
            <a:ext cx="581025" cy="59055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8493039" y="2011681"/>
            <a:ext cx="3091768" cy="309176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305828" y="4417981"/>
            <a:ext cx="2941852" cy="2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048634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>
                <a:latin typeface="Bicubik" panose="02000503020000020004" pitchFamily="50" charset="0"/>
              </a:rPr>
              <a:t>Обязательные слайды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6FFEFF56-A3BF-4206-885C-116FD17F7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05"/>
            <a:ext cx="10515600" cy="4351338"/>
          </a:xfrm>
        </p:spPr>
        <p:txBody>
          <a:bodyPr/>
          <a:lstStyle/>
          <a:p>
            <a:r>
              <a:rPr lang="ru-RU" sz="1400" dirty="0">
                <a:latin typeface="Bicubik" panose="02000503020000020004" pitchFamily="50" charset="0"/>
              </a:rPr>
              <a:t>Цели и задачи</a:t>
            </a:r>
            <a:r>
              <a:rPr lang="en-US" sz="1400" dirty="0">
                <a:latin typeface="Bicubik" panose="02000503020000020004" pitchFamily="50" charset="0"/>
              </a:rPr>
              <a:t>/</a:t>
            </a:r>
            <a:r>
              <a:rPr lang="ru-RU" sz="1400" dirty="0">
                <a:latin typeface="Bicubik" panose="02000503020000020004" pitchFamily="50" charset="0"/>
              </a:rPr>
              <a:t>проблематика проекта</a:t>
            </a:r>
          </a:p>
          <a:p>
            <a:r>
              <a:rPr lang="ru-RU" sz="1400" dirty="0">
                <a:latin typeface="Bicubik" panose="02000503020000020004" pitchFamily="50" charset="0"/>
              </a:rPr>
              <a:t>Организационная структура</a:t>
            </a:r>
          </a:p>
          <a:p>
            <a:r>
              <a:rPr lang="ru-RU" sz="1400" dirty="0">
                <a:latin typeface="Bicubik" panose="02000503020000020004" pitchFamily="50" charset="0"/>
              </a:rPr>
              <a:t>Диаграмма вариантов использования</a:t>
            </a:r>
          </a:p>
          <a:p>
            <a:r>
              <a:rPr lang="ru-RU" sz="1400" dirty="0">
                <a:latin typeface="Bicubik" panose="02000503020000020004" pitchFamily="50" charset="0"/>
              </a:rPr>
              <a:t>Диаграмма деятельности</a:t>
            </a:r>
          </a:p>
          <a:p>
            <a:r>
              <a:rPr lang="ru-RU" sz="1400" dirty="0">
                <a:latin typeface="Bicubik" panose="02000503020000020004" pitchFamily="50" charset="0"/>
              </a:rPr>
              <a:t>Диаграмма классов</a:t>
            </a:r>
          </a:p>
          <a:p>
            <a:r>
              <a:rPr lang="ru-RU" sz="1400" dirty="0">
                <a:latin typeface="Bicubik" panose="02000503020000020004" pitchFamily="50" charset="0"/>
              </a:rPr>
              <a:t>Программные средства для разработки</a:t>
            </a:r>
          </a:p>
          <a:p>
            <a:r>
              <a:rPr lang="ru-RU" sz="1400" dirty="0">
                <a:latin typeface="Bicubik" panose="02000503020000020004" pitchFamily="50" charset="0"/>
              </a:rPr>
              <a:t>Структура </a:t>
            </a:r>
            <a:r>
              <a:rPr lang="ru-RU" sz="1400" dirty="0" err="1">
                <a:latin typeface="Bicubik" panose="02000503020000020004" pitchFamily="50" charset="0"/>
              </a:rPr>
              <a:t>бд</a:t>
            </a:r>
            <a:endParaRPr lang="ru-RU" sz="1400" dirty="0">
              <a:latin typeface="Bicubik" panose="02000503020000020004" pitchFamily="50" charset="0"/>
            </a:endParaRPr>
          </a:p>
          <a:p>
            <a:r>
              <a:rPr lang="ru-RU" sz="1400" dirty="0">
                <a:latin typeface="Bicubik" panose="02000503020000020004" pitchFamily="50" charset="0"/>
              </a:rPr>
              <a:t>Достоинства и перспективы развития</a:t>
            </a:r>
          </a:p>
          <a:p>
            <a:pPr marL="0" indent="0">
              <a:buNone/>
            </a:pPr>
            <a:r>
              <a:rPr lang="en-US" sz="1400" b="1" dirty="0">
                <a:latin typeface="Bicubik" panose="02000503020000020004" pitchFamily="50" charset="0"/>
              </a:rPr>
              <a:t>P.S. </a:t>
            </a:r>
            <a:r>
              <a:rPr lang="ru-RU" sz="1400" b="1" dirty="0">
                <a:latin typeface="Bicubik" panose="02000503020000020004" pitchFamily="50" charset="0"/>
              </a:rPr>
              <a:t>Данная презентация является шаблоном который можно использовать, но никто не запрещает сделать презентацию по собственному видению с учетом требования к слайдам</a:t>
            </a:r>
          </a:p>
          <a:p>
            <a:pPr marL="0" indent="0">
              <a:buNone/>
            </a:pPr>
            <a:endParaRPr lang="ru-RU" sz="1400" b="1" dirty="0">
              <a:latin typeface="Bicubik" panose="02000503020000020004" pitchFamily="50" charset="0"/>
            </a:endParaRPr>
          </a:p>
          <a:p>
            <a:pPr marL="0" indent="0">
              <a:buNone/>
            </a:pPr>
            <a:r>
              <a:rPr lang="en-US" sz="1400" b="1" dirty="0">
                <a:latin typeface="Bicubik" panose="02000503020000020004" pitchFamily="50" charset="0"/>
              </a:rPr>
              <a:t>P.S.S </a:t>
            </a:r>
            <a:r>
              <a:rPr lang="ru-RU" sz="1400" b="1" dirty="0">
                <a:latin typeface="Bicubik" panose="02000503020000020004" pitchFamily="50" charset="0"/>
              </a:rPr>
              <a:t> рекомендованным шрифтом к использованию является официальный шрифт «КНИТУ» </a:t>
            </a:r>
            <a:r>
              <a:rPr lang="en-US" sz="1400" b="1" dirty="0">
                <a:latin typeface="Bicubik" panose="02000503020000020004" pitchFamily="50" charset="0"/>
              </a:rPr>
              <a:t>BICUBIK</a:t>
            </a:r>
            <a:endParaRPr lang="ru-RU" sz="1400" b="1" dirty="0">
              <a:latin typeface="Bicubik" panose="02000503020000020004" pitchFamily="50" charset="0"/>
            </a:endParaRPr>
          </a:p>
          <a:p>
            <a:endParaRPr lang="ru-RU" dirty="0">
              <a:latin typeface="Bicubik" panose="0200050302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325538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2545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>
                <a:latin typeface="Bicubik" panose="02000503020000020004" pitchFamily="50" charset="0"/>
              </a:rPr>
              <a:t>Цели и задачи</a:t>
            </a:r>
            <a:r>
              <a:rPr lang="en-US" b="1" dirty="0">
                <a:latin typeface="Bicubik" panose="02000503020000020004" pitchFamily="50" charset="0"/>
              </a:rPr>
              <a:t>/</a:t>
            </a:r>
            <a:r>
              <a:rPr lang="ru-RU" b="1" dirty="0">
                <a:latin typeface="Bicubik" panose="02000503020000020004" pitchFamily="50" charset="0"/>
              </a:rPr>
              <a:t>проблематика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229B20-7FCD-4D8E-971B-FECBA0663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7266"/>
            <a:ext cx="10515600" cy="380359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ru-RU" sz="7200" b="1" dirty="0"/>
              <a:t>Проблематика:</a:t>
            </a:r>
            <a:endParaRPr lang="ru-RU" sz="7200" dirty="0"/>
          </a:p>
          <a:p>
            <a:r>
              <a:rPr lang="ru-RU" sz="7200" dirty="0"/>
              <a:t>Бумажные журналы и Excel-таблицы → двойные записи, потеря истории лечения</a:t>
            </a:r>
          </a:p>
          <a:p>
            <a:r>
              <a:rPr lang="ru-RU" sz="7200" dirty="0"/>
              <a:t>Нет самозаписи пациентов 24/7</a:t>
            </a:r>
          </a:p>
          <a:p>
            <a:r>
              <a:rPr lang="ru-RU" sz="7200" dirty="0"/>
              <a:t>Низкая вовлечённость пациентов (нет системы поощрений)</a:t>
            </a:r>
          </a:p>
          <a:p>
            <a:pPr marL="0" indent="0" algn="just">
              <a:buNone/>
            </a:pPr>
            <a:endParaRPr lang="ru-RU" sz="7200" dirty="0"/>
          </a:p>
          <a:p>
            <a:pPr algn="just"/>
            <a:r>
              <a:rPr lang="ru-RU" sz="7200" b="1" dirty="0"/>
              <a:t>Цель</a:t>
            </a:r>
            <a:r>
              <a:rPr lang="en-US" sz="7200" b="1" dirty="0">
                <a:latin typeface="Bicubik" panose="02000503020000020004"/>
              </a:rPr>
              <a:t> </a:t>
            </a:r>
            <a:r>
              <a:rPr lang="ru-RU" sz="7200" b="1" dirty="0"/>
              <a:t>проекта:</a:t>
            </a:r>
            <a:endParaRPr lang="en-US" sz="7200" b="1" dirty="0">
              <a:latin typeface="Bicubik" panose="02000503020000020004"/>
            </a:endParaRPr>
          </a:p>
          <a:p>
            <a:pPr algn="just"/>
            <a:r>
              <a:rPr lang="ru-RU" sz="7200" dirty="0"/>
              <a:t>Разработать АИС для стоматологической клиники с онлайн-записью, электронной историей лечения, ролевой моделью (пациент, врач, менеджер, администратор) и системой достижений</a:t>
            </a:r>
            <a:r>
              <a:rPr lang="en-US" sz="7200" dirty="0"/>
              <a:t> </a:t>
            </a:r>
            <a:r>
              <a:rPr lang="ru-RU" sz="7200" dirty="0"/>
              <a:t>для мотивирования клиентов</a:t>
            </a:r>
            <a:endParaRPr lang="en-US" sz="7200" dirty="0"/>
          </a:p>
          <a:p>
            <a:pPr marL="0" indent="0" algn="just">
              <a:buNone/>
            </a:pPr>
            <a:endParaRPr lang="ru-RU" sz="7200" dirty="0"/>
          </a:p>
          <a:p>
            <a:pPr algn="just"/>
            <a:r>
              <a:rPr lang="ru-RU" sz="7200" b="1" dirty="0"/>
              <a:t>Задачи:</a:t>
            </a:r>
            <a:endParaRPr lang="ru-RU" sz="7200" dirty="0"/>
          </a:p>
          <a:p>
            <a:pPr marL="0" indent="0">
              <a:buNone/>
            </a:pPr>
            <a:r>
              <a:rPr lang="ru-RU" sz="7200" dirty="0"/>
              <a:t>1. Проанализировать предметную область</a:t>
            </a:r>
          </a:p>
          <a:p>
            <a:pPr marL="0" indent="0">
              <a:buNone/>
            </a:pPr>
            <a:r>
              <a:rPr lang="ru-RU" sz="7200" dirty="0"/>
              <a:t>2. Спроектировать базу данных (9 таблиц)</a:t>
            </a:r>
          </a:p>
          <a:p>
            <a:pPr marL="0" indent="0">
              <a:buNone/>
            </a:pPr>
            <a:r>
              <a:rPr lang="ru-RU" sz="7200" dirty="0"/>
              <a:t>3. Реализовать бэкенд на </a:t>
            </a:r>
            <a:r>
              <a:rPr lang="ru-RU" sz="7200" dirty="0" err="1"/>
              <a:t>Flask</a:t>
            </a:r>
            <a:r>
              <a:rPr lang="ru-RU" sz="7200" dirty="0"/>
              <a:t>, фронтенд с адаптивным дизайном</a:t>
            </a:r>
          </a:p>
          <a:p>
            <a:pPr marL="0" indent="0">
              <a:buNone/>
            </a:pPr>
            <a:r>
              <a:rPr lang="ru-RU" sz="7200" dirty="0"/>
              <a:t>4. Внедрить механизм ачивок</a:t>
            </a:r>
          </a:p>
          <a:p>
            <a:pPr marL="0" indent="0">
              <a:buNone/>
            </a:pPr>
            <a:r>
              <a:rPr lang="ru-RU" sz="7200" dirty="0"/>
              <a:t>5. Провести тестирование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2664867286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882" y="385022"/>
            <a:ext cx="11566236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Bicubik" panose="02000503020000020004" pitchFamily="50" charset="0"/>
              </a:rPr>
              <a:t>Организационная структура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F615B5-FE5F-4BDD-91FA-628ED6CE85C2}"/>
              </a:ext>
            </a:extLst>
          </p:cNvPr>
          <p:cNvSpPr txBox="1"/>
          <p:nvPr/>
        </p:nvSpPr>
        <p:spPr>
          <a:xfrm>
            <a:off x="3481864" y="5812300"/>
            <a:ext cx="5469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Bicubik" panose="02000503020000020004" pitchFamily="50" charset="0"/>
                <a:cs typeface="Times New Roman" panose="02020603050405020304" pitchFamily="18" charset="0"/>
              </a:rPr>
              <a:t>Рисунок 1 – Организационная структура отдела</a:t>
            </a:r>
          </a:p>
        </p:txBody>
      </p:sp>
      <p:pic>
        <p:nvPicPr>
          <p:cNvPr id="9" name="Рисунок 8" descr="Изображение выглядит как текст, диаграмма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964124B-403F-3B09-340B-8B3ACF2E24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1556" y="1300785"/>
            <a:ext cx="6268888" cy="442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731419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864" y="192752"/>
            <a:ext cx="11566236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Bicubik" panose="02000503020000020004" pitchFamily="50" charset="0"/>
              </a:rPr>
              <a:t>Диаграмма вариантов использования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0C0E2E-A23D-4B52-9777-D14436F0372B}"/>
              </a:ext>
            </a:extLst>
          </p:cNvPr>
          <p:cNvSpPr txBox="1"/>
          <p:nvPr/>
        </p:nvSpPr>
        <p:spPr>
          <a:xfrm>
            <a:off x="3352378" y="5904633"/>
            <a:ext cx="5487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Bicubik" panose="02000503020000020004" pitchFamily="50" charset="0"/>
                <a:cs typeface="Times New Roman" panose="02020603050405020304" pitchFamily="18" charset="0"/>
              </a:rPr>
              <a:t>Рисунок 2 – Диаграмма вариантов использования</a:t>
            </a:r>
          </a:p>
        </p:txBody>
      </p:sp>
      <p:pic>
        <p:nvPicPr>
          <p:cNvPr id="9" name="Рисунок 8" descr="Изображение выглядит как диаграмма, линия, круг, зарисов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893D9E9-EDE6-665D-263C-3357FCAD0F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180" y="1218891"/>
            <a:ext cx="5529640" cy="442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754116"/>
      </p:ext>
    </p:extLst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882" y="-174064"/>
            <a:ext cx="11566236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Bicubik" panose="02000503020000020004" pitchFamily="50" charset="0"/>
              </a:rPr>
              <a:t>Диаграмма деятельности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CED4C2-F8C1-4459-88DC-9B58C327D3F9}"/>
              </a:ext>
            </a:extLst>
          </p:cNvPr>
          <p:cNvSpPr txBox="1"/>
          <p:nvPr/>
        </p:nvSpPr>
        <p:spPr>
          <a:xfrm>
            <a:off x="2815606" y="6213146"/>
            <a:ext cx="65607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Bicubik" panose="02000503020000020004" pitchFamily="50" charset="0"/>
                <a:cs typeface="Times New Roman" panose="02020603050405020304" pitchFamily="18" charset="0"/>
              </a:rPr>
              <a:t>Рисунок 3 – Диаграмма деятельности по функции «Записаться»</a:t>
            </a:r>
          </a:p>
        </p:txBody>
      </p:sp>
      <p:pic>
        <p:nvPicPr>
          <p:cNvPr id="3" name="Рисунок 2" descr="Изображение выглядит как текст, снимок экрана, диаграмма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705EDBF-6054-CB76-C106-36DC486C7C4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852" y="768701"/>
            <a:ext cx="3154296" cy="5320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514613"/>
      </p:ext>
    </p:extLst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881" y="237287"/>
            <a:ext cx="11566236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Bicubik" panose="02000503020000020004" pitchFamily="50" charset="0"/>
              </a:rPr>
              <a:t>Диаграмма классов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7BD16B-7203-483D-8665-334B149B3414}"/>
              </a:ext>
            </a:extLst>
          </p:cNvPr>
          <p:cNvSpPr txBox="1"/>
          <p:nvPr/>
        </p:nvSpPr>
        <p:spPr>
          <a:xfrm>
            <a:off x="4140756" y="6010461"/>
            <a:ext cx="39293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Bicubik" panose="02000503020000020004" pitchFamily="50" charset="0"/>
                <a:cs typeface="Times New Roman" panose="02020603050405020304" pitchFamily="18" charset="0"/>
              </a:rPr>
              <a:t>Рисунок 4 – Диаграмма классов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C94F475-79BC-92EF-B252-2EEB0BF22B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4277" y="1290240"/>
            <a:ext cx="5763445" cy="468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893905"/>
      </p:ext>
    </p:extLst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882" y="385022"/>
            <a:ext cx="11566236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Bicubik" panose="02000503020000020004" pitchFamily="50" charset="0"/>
              </a:rPr>
              <a:t>Диаграмма классов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7BD16B-7203-483D-8665-334B149B3414}"/>
              </a:ext>
            </a:extLst>
          </p:cNvPr>
          <p:cNvSpPr txBox="1"/>
          <p:nvPr/>
        </p:nvSpPr>
        <p:spPr>
          <a:xfrm>
            <a:off x="4131329" y="6010461"/>
            <a:ext cx="392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Bicubik" panose="02000503020000020004" pitchFamily="50" charset="0"/>
                <a:cs typeface="Times New Roman" panose="02020603050405020304" pitchFamily="18" charset="0"/>
              </a:rPr>
              <a:t>Рисунок 5 – структура </a:t>
            </a:r>
            <a:r>
              <a:rPr lang="ru-RU" sz="1400" dirty="0" err="1">
                <a:latin typeface="Bicubik" panose="02000503020000020004" pitchFamily="50" charset="0"/>
                <a:cs typeface="Times New Roman" panose="02020603050405020304" pitchFamily="18" charset="0"/>
              </a:rPr>
              <a:t>бд</a:t>
            </a:r>
            <a:r>
              <a:rPr lang="en-US" sz="1400" dirty="0">
                <a:latin typeface="Bicubik" panose="02000503020000020004" pitchFamily="50" charset="0"/>
                <a:cs typeface="Times New Roman" panose="02020603050405020304" pitchFamily="18" charset="0"/>
              </a:rPr>
              <a:t>/er-</a:t>
            </a:r>
            <a:r>
              <a:rPr lang="ru-RU" sz="1400" dirty="0">
                <a:latin typeface="Bicubik" panose="02000503020000020004" pitchFamily="50" charset="0"/>
                <a:cs typeface="Times New Roman" panose="02020603050405020304" pitchFamily="18" charset="0"/>
              </a:rPr>
              <a:t>диаграмма</a:t>
            </a:r>
          </a:p>
        </p:txBody>
      </p:sp>
      <p:pic>
        <p:nvPicPr>
          <p:cNvPr id="3" name="Рисунок 2" descr="Изображение выглядит как текст, снимок экрана, Шрифт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D339C21-5DF2-CF0E-92CF-68DA2ADEEC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34317" y="1410808"/>
            <a:ext cx="5723366" cy="459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80880"/>
      </p:ext>
    </p:extLst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>
                <a:latin typeface="Bicubik" panose="02000503020000020004" pitchFamily="50" charset="0"/>
              </a:rPr>
              <a:t>Программные средства для разработки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6FFEFF56-A3BF-4206-885C-116FD17F7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Bicubik" panose="02000503020000020004"/>
              </a:rPr>
              <a:t>Python 3.10</a:t>
            </a:r>
            <a:br>
              <a:rPr lang="ru-RU" dirty="0"/>
            </a:br>
            <a:r>
              <a:rPr lang="ru-RU" sz="2200" dirty="0"/>
              <a:t>Простота, богатые библиотеки, кроссплатформенность.</a:t>
            </a:r>
          </a:p>
          <a:p>
            <a:r>
              <a:rPr lang="en-US" dirty="0">
                <a:latin typeface="Bicubik" panose="02000503020000020004"/>
              </a:rPr>
              <a:t>Flask</a:t>
            </a:r>
            <a:br>
              <a:rPr lang="ru-RU" dirty="0"/>
            </a:br>
            <a:r>
              <a:rPr lang="ru-RU" sz="2200" dirty="0"/>
              <a:t>Лёгкий, гибкий, не навязывает лишнего, идеален для малого проекта.</a:t>
            </a:r>
          </a:p>
          <a:p>
            <a:pPr marL="0" indent="0">
              <a:buNone/>
            </a:pPr>
            <a:r>
              <a:rPr lang="en-US" dirty="0">
                <a:latin typeface="Bicubik" panose="02000503020000020004"/>
              </a:rPr>
              <a:t>   SQLAlchemy</a:t>
            </a:r>
            <a:br>
              <a:rPr lang="ru-RU" dirty="0"/>
            </a:br>
            <a:r>
              <a:rPr lang="en-US" dirty="0"/>
              <a:t>   </a:t>
            </a:r>
            <a:r>
              <a:rPr lang="ru-RU" sz="2200" dirty="0"/>
              <a:t>Защита от SQL-инъекций, удобная работа с отношениями.</a:t>
            </a:r>
          </a:p>
          <a:p>
            <a:pPr marL="0" indent="0">
              <a:buNone/>
            </a:pPr>
            <a:r>
              <a:rPr lang="en-US" dirty="0">
                <a:latin typeface="Bicubik" panose="02000503020000020004"/>
              </a:rPr>
              <a:t>   MySQL</a:t>
            </a:r>
            <a:br>
              <a:rPr lang="ru-RU" dirty="0"/>
            </a:br>
            <a:r>
              <a:rPr lang="en-US" dirty="0"/>
              <a:t>   </a:t>
            </a:r>
            <a:r>
              <a:rPr lang="ru-RU" sz="2200" dirty="0"/>
              <a:t>Надёжность, высокая производительность, широкое распространение.</a:t>
            </a:r>
          </a:p>
          <a:p>
            <a:r>
              <a:rPr lang="en-US" dirty="0">
                <a:latin typeface="Bicubik" panose="02000503020000020004"/>
              </a:rPr>
              <a:t>HTML5, CSS3</a:t>
            </a:r>
            <a:br>
              <a:rPr lang="ru-RU" dirty="0"/>
            </a:br>
            <a:r>
              <a:rPr lang="ru-RU" sz="2200" dirty="0"/>
              <a:t>Полный контроль, адаптивность, отсутствие тяжёлых фреймворков.</a:t>
            </a:r>
          </a:p>
          <a:p>
            <a:endParaRPr lang="ru-RU" sz="2200" dirty="0"/>
          </a:p>
          <a:p>
            <a:endParaRPr lang="ru-RU" sz="2200" dirty="0"/>
          </a:p>
        </p:txBody>
      </p:sp>
      <p:pic>
        <p:nvPicPr>
          <p:cNvPr id="3" name="Рисунок 2" descr="Изображение выглядит как графическая вставка, символ, График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A577514-FEBE-0271-50D0-3014B3E01EA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841" y="1742760"/>
            <a:ext cx="709064" cy="679858"/>
          </a:xfrm>
          <a:prstGeom prst="rect">
            <a:avLst/>
          </a:prstGeom>
        </p:spPr>
      </p:pic>
      <p:pic>
        <p:nvPicPr>
          <p:cNvPr id="5" name="Рисунок 4" descr="Изображение выглядит как рисунок, зарисовка, иллюстрация, черно-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59B0692-F761-01C4-3235-E0FE84E6364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09" y="2553019"/>
            <a:ext cx="679859" cy="679859"/>
          </a:xfrm>
          <a:prstGeom prst="rect">
            <a:avLst/>
          </a:prstGeom>
        </p:spPr>
      </p:pic>
      <p:pic>
        <p:nvPicPr>
          <p:cNvPr id="7" name="Рисунок 6" descr="Изображение выглядит как Шрифт, Графика, логотип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7F6A131-1542-5090-BD3E-F5C530E0BDA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73" y="3330073"/>
            <a:ext cx="727132" cy="727132"/>
          </a:xfrm>
          <a:prstGeom prst="rect">
            <a:avLst/>
          </a:prstGeom>
        </p:spPr>
      </p:pic>
      <p:pic>
        <p:nvPicPr>
          <p:cNvPr id="9" name="Рисунок 8" descr="Изображение выглядит как Графика, дизайн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A8CB86D-37A3-E283-2B83-A8285CA3BE8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91" y="4218839"/>
            <a:ext cx="703496" cy="703496"/>
          </a:xfrm>
          <a:prstGeom prst="rect">
            <a:avLst/>
          </a:prstGeom>
        </p:spPr>
      </p:pic>
      <p:pic>
        <p:nvPicPr>
          <p:cNvPr id="12" name="Рисунок 11" descr="Изображение выглядит как График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4EE1126-094E-9EC6-DB26-2EFD893C44E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15" y="5154428"/>
            <a:ext cx="845648" cy="54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542230"/>
      </p:ext>
    </p:extLst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2545"/>
            <a:ext cx="10515600" cy="1325563"/>
          </a:xfrm>
        </p:spPr>
        <p:txBody>
          <a:bodyPr/>
          <a:lstStyle/>
          <a:p>
            <a:r>
              <a:rPr lang="ru-RU" b="1" dirty="0">
                <a:latin typeface="Bicubik" panose="02000503020000020004" pitchFamily="50" charset="0"/>
              </a:rPr>
              <a:t>ДОСТОИНСТВА И ПЕРСПЕКТИВЫ РАЗВИТИЯ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6FFEFF56-A3BF-4206-885C-116FD17F7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5025"/>
            <a:ext cx="10515600" cy="4351338"/>
          </a:xfrm>
        </p:spPr>
        <p:txBody>
          <a:bodyPr numCol="2" spcCol="720000">
            <a:normAutofit lnSpcReduction="10000"/>
          </a:bodyPr>
          <a:lstStyle/>
          <a:p>
            <a:r>
              <a:rPr lang="ru-RU" sz="2700" b="1" dirty="0">
                <a:latin typeface="Bicubik" panose="02000503020000020004" pitchFamily="50" charset="0"/>
              </a:rPr>
              <a:t>Достоинства</a:t>
            </a:r>
          </a:p>
          <a:p>
            <a:r>
              <a:rPr lang="ru-RU" sz="1900" dirty="0"/>
              <a:t>Полная автоматизация записи – исключены конфликты, самозапись 24/7</a:t>
            </a:r>
          </a:p>
          <a:p>
            <a:r>
              <a:rPr lang="ru-RU" sz="1900" dirty="0"/>
              <a:t>Ролевая модель – гибкое разграничение прав для 4 типов пользователей</a:t>
            </a:r>
          </a:p>
          <a:p>
            <a:r>
              <a:rPr lang="ru-RU" sz="1900" dirty="0"/>
              <a:t>Геймификация – ачивки повышают лояльность пациентов</a:t>
            </a:r>
          </a:p>
          <a:p>
            <a:r>
              <a:rPr lang="ru-RU" sz="1900" dirty="0"/>
              <a:t>Адаптивный интерфейс – корректная работа на мобильных устройствах</a:t>
            </a:r>
          </a:p>
          <a:p>
            <a:endParaRPr lang="ru-RU" sz="1400" dirty="0">
              <a:latin typeface="Bicubik" panose="02000503020000020004" pitchFamily="50" charset="0"/>
            </a:endParaRPr>
          </a:p>
          <a:p>
            <a:pPr marL="0" indent="0">
              <a:buNone/>
            </a:pPr>
            <a:endParaRPr lang="en-US" sz="1400" dirty="0">
              <a:latin typeface="Bicubik" panose="02000503020000020004" pitchFamily="50" charset="0"/>
            </a:endParaRPr>
          </a:p>
          <a:p>
            <a:pPr marL="0" indent="0">
              <a:buNone/>
            </a:pPr>
            <a:endParaRPr lang="ru-RU" sz="1400" dirty="0">
              <a:latin typeface="Bicubik" panose="02000503020000020004" pitchFamily="50" charset="0"/>
            </a:endParaRPr>
          </a:p>
          <a:p>
            <a:endParaRPr lang="ru-RU" sz="1400" dirty="0">
              <a:latin typeface="Bicubik" panose="02000503020000020004" pitchFamily="50" charset="0"/>
            </a:endParaRPr>
          </a:p>
          <a:p>
            <a:pPr marL="0" indent="0">
              <a:buNone/>
            </a:pPr>
            <a:endParaRPr lang="ru-RU" sz="1400" dirty="0">
              <a:latin typeface="Bicubik" panose="02000503020000020004" pitchFamily="50" charset="0"/>
            </a:endParaRPr>
          </a:p>
          <a:p>
            <a:r>
              <a:rPr lang="ru-RU" sz="2900" b="1" dirty="0">
                <a:latin typeface="Bicubik" panose="02000503020000020004" pitchFamily="50" charset="0"/>
              </a:rPr>
              <a:t>Перспективы</a:t>
            </a:r>
          </a:p>
          <a:p>
            <a:r>
              <a:rPr lang="ru-RU" sz="2100" dirty="0"/>
              <a:t>Интеграция с платёжными системами (онлайн-оплата услуг)</a:t>
            </a:r>
          </a:p>
          <a:p>
            <a:r>
              <a:rPr lang="ru-RU" sz="2100" dirty="0"/>
              <a:t>SMS-напоминания о записи</a:t>
            </a:r>
          </a:p>
          <a:p>
            <a:r>
              <a:rPr lang="ru-RU" sz="2100" dirty="0"/>
              <a:t>Развёртывание в </a:t>
            </a:r>
            <a:r>
              <a:rPr lang="ru-RU" sz="2100" dirty="0" err="1"/>
              <a:t>Docker</a:t>
            </a:r>
            <a:r>
              <a:rPr lang="ru-RU" sz="2100" dirty="0"/>
              <a:t> и облачный хостинг</a:t>
            </a:r>
          </a:p>
          <a:p>
            <a:r>
              <a:rPr lang="ru-RU" sz="2100" dirty="0"/>
              <a:t>Мобильное приложение на </a:t>
            </a:r>
            <a:r>
              <a:rPr lang="ru-RU" sz="2100" dirty="0" err="1"/>
              <a:t>Flutter</a:t>
            </a:r>
            <a:endParaRPr lang="ru-RU" sz="2100" dirty="0"/>
          </a:p>
          <a:p>
            <a:pPr marL="0" indent="0">
              <a:buNone/>
            </a:pPr>
            <a:endParaRPr lang="ru-RU" sz="2000" b="1" dirty="0">
              <a:latin typeface="Bicubik" panose="02000503020000020004" pitchFamily="50" charset="0"/>
            </a:endParaRPr>
          </a:p>
          <a:p>
            <a:endParaRPr lang="ru-RU" sz="2000" b="1" dirty="0">
              <a:latin typeface="Bicubik" panose="02000503020000020004" pitchFamily="50" charset="0"/>
            </a:endParaRPr>
          </a:p>
          <a:p>
            <a:endParaRPr lang="ru-RU" sz="1400" dirty="0">
              <a:latin typeface="Bicubik" panose="02000503020000020004" pitchFamily="50" charset="0"/>
            </a:endParaRPr>
          </a:p>
          <a:p>
            <a:endParaRPr lang="ru-RU" sz="1400" dirty="0">
              <a:latin typeface="Bicubik" panose="02000503020000020004" pitchFamily="50" charset="0"/>
            </a:endParaRPr>
          </a:p>
          <a:p>
            <a:endParaRPr lang="ru-RU" sz="1400" dirty="0">
              <a:latin typeface="Bicubik" panose="0200050302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694334"/>
      </p:ext>
    </p:extLst>
  </p:cSld>
  <p:clrMapOvr>
    <a:masterClrMapping/>
  </p:clrMapOvr>
  <p:transition spd="slow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>
                <a:latin typeface="Bicubik" panose="02000503020000020004" pitchFamily="50" charset="0"/>
              </a:rPr>
              <a:t>Пустой слайд для копирования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6FFEFF56-A3BF-4206-885C-116FD17F7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05"/>
            <a:ext cx="10515600" cy="4351338"/>
          </a:xfrm>
        </p:spPr>
        <p:txBody>
          <a:bodyPr/>
          <a:lstStyle/>
          <a:p>
            <a:r>
              <a:rPr lang="ru-RU" sz="1400" dirty="0">
                <a:latin typeface="Bicubik" panose="02000503020000020004" pitchFamily="50" charset="0"/>
              </a:rPr>
              <a:t>.</a:t>
            </a:r>
            <a:endParaRPr lang="ru-RU" sz="1400" b="1" dirty="0">
              <a:latin typeface="Bicubik" panose="02000503020000020004" pitchFamily="50" charset="0"/>
            </a:endParaRPr>
          </a:p>
          <a:p>
            <a:endParaRPr lang="ru-RU" dirty="0">
              <a:latin typeface="Bicubik" panose="0200050302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407831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413</Words>
  <Application>Microsoft Office PowerPoint</Application>
  <PresentationFormat>Широкоэкранный</PresentationFormat>
  <Paragraphs>75</Paragraphs>
  <Slides>11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Aptos</vt:lpstr>
      <vt:lpstr>Arial</vt:lpstr>
      <vt:lpstr>Bicubik</vt:lpstr>
      <vt:lpstr>Calibri</vt:lpstr>
      <vt:lpstr>Calibri Light</vt:lpstr>
      <vt:lpstr>Times New Roman</vt:lpstr>
      <vt:lpstr>Тема Office</vt:lpstr>
      <vt:lpstr>МИНИСТЕРСТВО НАУКИ И ВЫСШЕГО ОБРАЗОВАНИЯ  РОССИЙСКОЙ ФЕДЕРАЦИИ Федеральное государственное бюджетное образовательное учреждение  высшего образования «Казанский национальный исследовательский технологический университет»  Казанский технологический колледж (КТК ФГБОУ ВО «КНИТУ») </vt:lpstr>
      <vt:lpstr>Обязательные слайды</vt:lpstr>
      <vt:lpstr>Цели и задачи/проблематика проекта</vt:lpstr>
      <vt:lpstr>Организационная структура</vt:lpstr>
      <vt:lpstr>Диаграмма вариантов использования</vt:lpstr>
      <vt:lpstr>Диаграмма деятельности</vt:lpstr>
      <vt:lpstr>Диаграмма классов</vt:lpstr>
      <vt:lpstr>Диаграмма классов</vt:lpstr>
      <vt:lpstr>Программные средства для разработки</vt:lpstr>
      <vt:lpstr>ДОСТОИНСТВА И ПЕРСПЕКТИВЫ РАЗВИТИЯ</vt:lpstr>
      <vt:lpstr>Пустой слайд для копирования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МИНИСТЕРСТВО НАУКИ И ВЫСШЕГО ОБРАЗОВАНИЯ  РОССИЙСКОЙ ФЕДЕРАЦИИ Федеральное государственное бюджетное образовательное учреждение  высшего образования «Казанский национальный исследовательский технологический университет»  Казанский технологический колледж (КТК ФГБОУ ВО «КНИТУ»)</dc:title>
  <dc:creator>Артур Габитов</dc:creator>
  <cp:lastModifiedBy>Ilia Yakovlev</cp:lastModifiedBy>
  <cp:revision>9</cp:revision>
  <dcterms:created xsi:type="dcterms:W3CDTF">2025-05-03T17:05:12Z</dcterms:created>
  <dcterms:modified xsi:type="dcterms:W3CDTF">2026-06-11T16:54:18Z</dcterms:modified>
</cp:coreProperties>
</file>